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67" r:id="rId5"/>
    <p:sldId id="268" r:id="rId6"/>
    <p:sldId id="259" r:id="rId7"/>
    <p:sldId id="260" r:id="rId8"/>
    <p:sldId id="269" r:id="rId9"/>
    <p:sldId id="270" r:id="rId10"/>
    <p:sldId id="271" r:id="rId11"/>
    <p:sldId id="263" r:id="rId12"/>
    <p:sldId id="272" r:id="rId13"/>
    <p:sldId id="273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3" autoAdjust="0"/>
  </p:normalViewPr>
  <p:slideViewPr>
    <p:cSldViewPr snapToGrid="0">
      <p:cViewPr varScale="1">
        <p:scale>
          <a:sx n="104" d="100"/>
          <a:sy n="104" d="100"/>
        </p:scale>
        <p:origin x="96" y="2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项目组代表。今天我们将向各位老师汇报我们的项目——物联网设备离线指令缓存与同步系统。这个项目旨在解决当前智能家居领域一个普遍存在的痛点，即设备离线时用户操作丢失的问题。接下来，我们将详细介绍项目的背景、设计、功能和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本次汇报将分为四个部分。首先，我们会介绍项目的背景与目标。接着，将展示系统的整体架构和核心流程。之后，我们会通过功能演示，直观地展示系统的工作效果。最后，展示项目成果与创新点。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什么要做这个项目呢？核心原因在于智能家居普遍存在的痛点。首先，当网络不稳定时，用户的操作会瞬间丢失，体验极差。其次，市面上多数系统功能缺失，设备一离线，操作就直接失效。最后，用户常常无法感知设备的真实状态，操作失败后也不知道原因。这些痛点正是我们项目要解决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的目标是构建一个全链路的指令保障体系，实现在线即时下发、离线智能缓存和上线自动补发。这个项目的价值在于，它能极大地提升用户体验，而且是一个成本效益高的纯软件方案，可以轻松部署在家庭环境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这是我们系统的整体架构图。它分为五层：用户层、应用层、数据层、通信层和设备层。这种分层解耦的设计，保证了系统的稳定性和可扩展性。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这张图展示了我们系统的核心业务流程。当用户发出指令后，后端会先判断设备是否在线。如果在线，指令会立即下发；如果离线，指令会被缓存。一旦设备上线，系统会自动补发所有缓存的指令，并同步状态。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功能演示。首先是在线控制功能。当设备在线时，用户的操作会得到即时响应。大家可以看到，当我们在前端点击“开灯”后，模拟器终端立刻收到了指令，同时前端界面也实时更新了设备状态，整个过程非常流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功能是离线缓存。现在我们模拟设备离线的情况。即使设备离线，我们依然可以进行操作。大家可以看到，前端会显示“待同步”的标签，同时，我们刚才的操作指令已经被安全地存储在了Redis数据库中，等待设备上线后执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功能是上线同步。现在我们重新启动设备模拟器。设备上线后，系统会自动检测到，并按照先进先出的顺序，将刚才缓存的指令逐条补发下去。大家可以看到，所有“待同步”的标签都自动消失了，整个过程完全自动化，无需用户干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目前，我们的项目已经全面完成。我们覆盖了5大场景和21种设备，实现了在线控制、离线暂存和上线同步三大核心功能，并且所有核心测试均已通过。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项目的创新点主要体现在五个方面：我们独创了离线指令队列缓存机制，保证了操作不丢失；通过FIFO顺序补发机制，保证了执行顺序的正确性；智能应用了MQTT遗嘱消息，实现了高效的断线检测；提供了轻量化的开源家庭解决方案；并设计了场景化的可视化控制界面，提升了易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项目进行总结与展望。我们成功实现了预期的所有核心功能，并构建了稳定可靠的技术闭环。展望未来，我们计划接入米家、涂鸦等真实设备生态，引入WebSocket技术，并开发移动端APP，让我们的系统更加完善和实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我的汇报到此结束。再次感谢李菲老师的悉心指导，也感谢各位评委老师的聆听。欢迎大家提问，谢谢！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sv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3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4.svg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jpeg"/><Relationship Id="rId5" Type="http://schemas.openxmlformats.org/officeDocument/2006/relationships/image" Target="../media/image31.svg"/><Relationship Id="rId10" Type="http://schemas.openxmlformats.org/officeDocument/2006/relationships/image" Target="../media/image39.svg"/><Relationship Id="rId4" Type="http://schemas.openxmlformats.org/officeDocument/2006/relationships/image" Target="../media/image6.svg"/><Relationship Id="rId9" Type="http://schemas.openxmlformats.org/officeDocument/2006/relationships/image" Target="../media/image3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270000"/>
            <a:ext cx="4445000" cy="4445000"/>
          </a:xfrm>
          <a:prstGeom prst="ellipse">
            <a:avLst/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524000" y="5080000"/>
            <a:ext cx="3810000" cy="3810000"/>
          </a:xfrm>
          <a:prstGeom prst="ellipse">
            <a:avLst/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物联网设备离线指令缓存与同步系统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921000"/>
            <a:ext cx="10160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30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err="1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项目答辩汇报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456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5270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项目汇报人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牛鑫宇、弓思圆、赵晓丽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42709">
            <a:off x="4254500" y="5581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826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500" y="527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461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李菲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42709">
            <a:off x="7937500" y="5581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509000" y="5080000"/>
            <a:ext cx="2667000" cy="10160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9500" y="5270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5207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答辩时间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2026年7月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472C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4472C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286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222500"/>
            <a:ext cx="374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项目背景与目标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18">
            <a:off x="1079509" y="3041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3175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深入剖析项目的行业背景与业务痛点，明确系统建设的核心目标与价值主张，为整体方案奠定基础。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4472C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286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2222500"/>
            <a:ext cx="374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系统架构与流程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18">
            <a:off x="6540509" y="3041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3175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展示系统的整体技术架构设计，梳理核心业务流转逻辑，阐述各功能模块的协作关系与数据流向。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4472C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4572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0" y="4508500"/>
            <a:ext cx="374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核心功能演示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418">
            <a:off x="1079509" y="5327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461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通过关键功能的实际操作演示，直观呈现系统的交互界面与核心能力，体现操作便捷性与业务实用性。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31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4472C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23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4572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66000" y="4508500"/>
            <a:ext cx="374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项目成果与创新点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418">
            <a:off x="6540509" y="5327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40500" y="5461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总结项目落地后的实际成效，提炼技术与业务层面的创新突破，展示项目带来的效率提升与价值增量。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项目背景与痛点分析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472C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" y="1905000"/>
            <a:ext cx="1003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行业现状：物联网设备普及背后的隐忧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智能家居物联网设备已广泛渗透至生活场景，但网络环境复杂多变，断网、断电、信号波动等问题频发，严重影响用户对智能设备的控制体验，成为制约行业发展的关键瓶颈。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810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064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0640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指令直接丢失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4323">
            <a:off x="9525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52500" y="4889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设备处于离线状态时，用户下发的控制指令无法触达设备，系统无任何缓存机制，导致操作直接失效，用户需反复尝试，体验极差。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81500" y="381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381500" y="3810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4064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143500" y="40640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缺乏离线缓存能力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45720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72000" y="4889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传统物联网平台仅支持“在线实时下发”模式，缺失离线指令暂存与补发逻辑，设备重连后无法同步历史指令，无法保障控制的连续性。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001000" y="381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001000" y="3810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4064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763000" y="40640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状态感知模糊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14323">
            <a:off x="81915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191500" y="4889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系统难以自动识别设备是“正常离线”还是“异常断线”，用户无法实时掌握设备真实在线状态，操作失败后无法快速定位问题根源。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项目目标与价值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4826000" cy="3556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3556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" y="2032000"/>
            <a:ext cx="425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核心目标：全链路指令保障体系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7" name="Connector 7"/>
          <p:cNvCxnSpPr/>
          <p:nvPr/>
        </p:nvCxnSpPr>
        <p:spPr>
          <a:xfrm rot="-10261">
            <a:off x="1079509" y="2787650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3048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在线即时下发：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设备在线时，用户操作指令通过网络实时推送到执行端，实现响应，确保控制动作与用户操作同步，无任何延迟感。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79500" y="4318000"/>
            <a:ext cx="425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离线缓存与自动补发：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设备断网离线时指令自动加密缓存，待设备重新上线后，系统按时间顺序自动补发未执行指令，保障每一次操作都能被完整执行，杜绝指令丢失。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588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4472C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952500" y="57150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核心价值总结：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通过构建完整的指令闭环，从根本上解决了物联网设备在不稳定网络环境下的控制可靠性问题。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1968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1905000"/>
            <a:ext cx="419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纯软件改造，大幅降低部署成本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无需采购或更换任何硬件设备，仅通过软件层的架构优化与协议适配即可完成系统部署，省去了硬件升级的高昂费用，实现低成本快速落地。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3429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3429000"/>
            <a:ext cx="76200" cy="1460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619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3556000"/>
            <a:ext cx="419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消除操作断点，极致提升用户体验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彻底规避了因网络掉线、信号弱导致的指令丢失与操作失败问题，用户无需关注设备网络状态，所有控制动作均可精准执行，让智能家居使用更流畅省心。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23000" y="508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52705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5207000"/>
            <a:ext cx="419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轻量去中心化，适配家庭场景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采用轻量级本地架构，不依赖商业云平台的算力支持，减少数据传输延迟与隐私风险，部署灵活且维护简单，完美契合家庭物联网的实际使用需求。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系统架构图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2032000"/>
            <a:ext cx="2032000" cy="3048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349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49500"/>
            <a:ext cx="120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6443">
            <a:off x="952524" y="3041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3302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核心载体：前端终端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面向最终用户提供交互界面，支持多端适配，实现系统功能的可视化操作与数据展示。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048000" y="2032000"/>
            <a:ext cx="2032000" cy="3048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048000" y="2032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2349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810000" y="2349500"/>
            <a:ext cx="120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6443">
            <a:off x="3238524" y="3041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175000" y="3302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核心技术：Flask框架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负责业务逻辑处理、请求分发与接口封装，衔接前端交互与后端数据服务，保障业务流程闭环。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334000" y="2032000"/>
            <a:ext cx="2032000" cy="3048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334000" y="2032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500" y="2349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096000" y="2349500"/>
            <a:ext cx="120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6443">
            <a:off x="5524524" y="3041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461000" y="3302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核心组件：Redis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提供高性能数据缓存与临时存储能力，支持快速读写，为系统高频数据交互提供可靠支撑。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0" y="2032000"/>
            <a:ext cx="2032000" cy="3048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0" y="2032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0500" y="2349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382000" y="2349500"/>
            <a:ext cx="120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通信层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6443">
            <a:off x="7810524" y="3041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747000" y="3302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通信协议：MQTT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基于发布/订阅模式的轻量级消息协议，实现设备端与服务端的低延迟、高可靠双向通信。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9779000" y="2032000"/>
            <a:ext cx="2032000" cy="3048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779000" y="2032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69500" y="2349500"/>
            <a:ext cx="457200" cy="457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0541000" y="2349500"/>
            <a:ext cx="120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设备层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26443">
            <a:off x="9969524" y="3041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9906000" y="3302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终端载体：设备模拟器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模拟真实硬件设备的行为与数据上报，支持各类传感器数据模拟，为系统联调提供底层支撑。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762000" y="5588000"/>
            <a:ext cx="50800" cy="889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016000" y="571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系统采用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分层解耦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的五层架构设计，实现用户交互、业务逻辑、数据存储、消息通信与设备接入的独立管理，有效降低系统耦合度，提升了系统的稳定性、可维护性与未来的功能扩展能力。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核心流程图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298685"/>
            <a:ext cx="2476500" cy="2540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4765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238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用户操作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733800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用户端发起控制指令或配置修改，系统接收请求并进行初步解析与校验。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71744">
            <a:off x="3365659" y="35496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472C4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0" name="AutoShape 10"/>
          <p:cNvSpPr/>
          <p:nvPr/>
        </p:nvSpPr>
        <p:spPr>
          <a:xfrm>
            <a:off x="3746500" y="2286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746500" y="2286000"/>
            <a:ext cx="24765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500" y="2667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968750" y="3276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智能分发策略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000500" y="3847162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实时判断设备网络状态：在线则指令即时下发；离线则将指令加密缓存至服务端队列。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71744">
            <a:off x="6350159" y="35496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472C4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6" name="AutoShape 16"/>
          <p:cNvSpPr/>
          <p:nvPr/>
        </p:nvSpPr>
        <p:spPr>
          <a:xfrm>
            <a:off x="6731000" y="2286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731000" y="2286000"/>
            <a:ext cx="24765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0" y="2667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3276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断点续传补发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85000" y="3845798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监测到设备重新上线后，系统自动检索未下发的缓存指令，按优先级依次补发执行。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71744">
            <a:off x="9334659" y="35496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472C4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2" name="AutoShape 22"/>
          <p:cNvSpPr/>
          <p:nvPr/>
        </p:nvSpPr>
        <p:spPr>
          <a:xfrm>
            <a:off x="9588500" y="2286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88500" y="2286000"/>
            <a:ext cx="24765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2500" y="26670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842500" y="3276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全链路状态同步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842500" y="3845798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设备执行结果实时回传，更新云端数据库，同步至用户端，确保操作闭环与数据一致性。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461000"/>
            <a:ext cx="11303000" cy="889000"/>
          </a:xfrm>
          <a:prstGeom prst="roundRect">
            <a:avLst>
              <a:gd name="adj" fmla="val 0"/>
            </a:avLst>
          </a:prstGeom>
          <a:solidFill>
            <a:srgbClr val="4472C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62000" y="5461000"/>
            <a:ext cx="76200" cy="889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016000" y="558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核心逻辑闭环：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系统通过“在线直发+离线缓存+断点补发”的三层机制，保障指令100%触达设备；配合全链路状态同步，实现用户操作与设备执行的无缝衔接，确保业务流程的完整性与可靠性。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核心功能一：设备在线实时控制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387880" y="5461000"/>
            <a:ext cx="545412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图示为核心操作界面，通过直观的可视化交互，用户可随时随地对在线设备进行一键式实时管控，操作界面简洁流畅，适配多终端显示。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6" name="Connector 6"/>
          <p:cNvCxnSpPr/>
          <p:nvPr/>
        </p:nvCxnSpPr>
        <p:spPr>
          <a:xfrm rot="5389889">
            <a:off x="4191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1905000"/>
            <a:ext cx="4953000" cy="889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604000" y="1905000"/>
            <a:ext cx="50800" cy="889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794500" y="1968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应用场景：网络常态互联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在设备保持网络在线的状态下，用户端操作指令极速下发，实现即时响应，无延迟感。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604000" y="3302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核心操作流程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8814">
            <a:off x="6604008" y="3740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604000" y="4000500"/>
            <a:ext cx="2349500" cy="1016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0" y="412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75500" y="4127500"/>
            <a:ext cx="171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打开控制终端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进入设备专属控制面板，查看设备当前在线状态与基础信息。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080500" y="4000500"/>
            <a:ext cx="2349500" cy="1016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7500" y="412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652000" y="4127500"/>
            <a:ext cx="171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执行控制指令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点击目标灯光设备的开关按钮，系统即刻触发设备状态变更指令。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5334000"/>
            <a:ext cx="4953000" cy="9525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5461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5461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终端即时响应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设备模拟器秒级接收指令并执行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1" name="Connector 21"/>
          <p:cNvCxnSpPr/>
          <p:nvPr/>
        </p:nvCxnSpPr>
        <p:spPr>
          <a:xfrm rot="5337502">
            <a:off x="8286750" y="5803958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0" y="54610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080500" y="54610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状态与日志同步更新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前端界面实时反馈状态，系统日志完整留存操作记录。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3A6DB3F-03C0-98D1-5504-1D56C2270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880" y="1898958"/>
            <a:ext cx="5558448" cy="3316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核心功能二：离线指令自动缓存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5389257">
            <a:off x="3302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715000" y="2032000"/>
            <a:ext cx="5715000" cy="1270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500" y="2222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350000" y="2159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应用场景：设备断网无忧操作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当智能设备意外断网或处于离线状态时，用户在前端的所有控制操作不会直接失效，系统会自动启动容错机制，保障指令留存。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715000" y="3810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▍模拟操作流程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15000" y="4445000"/>
            <a:ext cx="27305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45720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223000" y="45466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触发离线状态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主动关闭设备网络连接或模拟设备掉线，使终端与服务器暂时断开通信。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699500" y="4445000"/>
            <a:ext cx="27305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6500" y="45720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207500" y="45466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批量下发指令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连续执行“开灯、开电视、调音量”等多条控制指令，系统后台实时捕获请求。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5715000" y="5842000"/>
            <a:ext cx="5715000" cy="635000"/>
          </a:xfrm>
          <a:prstGeom prst="roundRect">
            <a:avLst>
              <a:gd name="adj" fmla="val 0"/>
            </a:avLst>
          </a:prstGeom>
          <a:solidFill>
            <a:srgbClr val="4472C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5994400"/>
            <a:ext cx="228600" cy="228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223000" y="5918200"/>
            <a:ext cx="508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前端标记“待同步”，Redis 队列有序存储，日志完整记录缓存补发状态。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3D6A069-6E42-9073-753A-0C73B64F10FD}"/>
              </a:ext>
            </a:extLst>
          </p:cNvPr>
          <p:cNvPicPr>
            <a:picLocks/>
          </p:cNvPicPr>
          <p:nvPr/>
        </p:nvPicPr>
        <p:blipFill>
          <a:blip r:embed="rId7"/>
          <a:srcRect t="29753" r="541" b="26780"/>
          <a:stretch>
            <a:fillRect/>
          </a:stretch>
        </p:blipFill>
        <p:spPr>
          <a:xfrm>
            <a:off x="457074" y="4611995"/>
            <a:ext cx="4845428" cy="172341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8D30865-5970-FCDD-8CF1-FA7B09D333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873" y="1409700"/>
            <a:ext cx="4873625" cy="29375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核心功能三：设备上线自动同步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5" name="Connector 5"/>
          <p:cNvCxnSpPr/>
          <p:nvPr/>
        </p:nvCxnSpPr>
        <p:spPr>
          <a:xfrm rot="5389889">
            <a:off x="3302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842000" y="1905000"/>
            <a:ext cx="50800" cy="3048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019800" y="1879600"/>
            <a:ext cx="541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应用场景：断点续传，指令不丢失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842000" y="2540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当智能设备因网络波动或断电离线后重新恢复连接，系统将自动唤醒补发机制，对离线期间缓存的控制指令进行自动下发，无需人工干预即可恢复设备状态。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9" name="Connector 9"/>
          <p:cNvCxnSpPr/>
          <p:nvPr/>
        </p:nvCxnSpPr>
        <p:spPr>
          <a:xfrm rot="-7813">
            <a:off x="5842007" y="3676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842000" y="4064000"/>
            <a:ext cx="2667000" cy="20320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000" y="41910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350000" y="41656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关键操作流程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18093">
            <a:off x="5969017" y="46291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5969000" y="4762500"/>
            <a:ext cx="241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重启设备模拟器触发上线流程，系统后台自动检测设备状态变更，随即启动缓存指令队列的逐条补发与执行监控。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763000" y="4064000"/>
            <a:ext cx="2667000" cy="20320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0" y="41910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271000" y="41656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自动化运行成效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18093">
            <a:off x="8890017" y="46291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890000" y="4762500"/>
            <a:ext cx="241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指令按序执行无遗漏，前端“待同步”标签自动清除，系统日志实时记录补发完成状态，全程可视化、可追溯。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DEEF676-B4AA-874B-EBBA-A9E6C77BD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55" y="4165600"/>
            <a:ext cx="4665345" cy="267843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D5CDB1D-A2F0-B598-9CCF-6F1504019C78}"/>
              </a:ext>
            </a:extLst>
          </p:cNvPr>
          <p:cNvPicPr>
            <a:picLocks/>
          </p:cNvPicPr>
          <p:nvPr/>
        </p:nvPicPr>
        <p:blipFill>
          <a:blip r:embed="rId6"/>
          <a:srcRect b="38437"/>
          <a:stretch>
            <a:fillRect/>
          </a:stretch>
        </p:blipFill>
        <p:spPr>
          <a:xfrm>
            <a:off x="543560" y="1442040"/>
            <a:ext cx="4631690" cy="2621960"/>
          </a:xfrm>
          <a:prstGeom prst="rect">
            <a:avLst/>
          </a:prstGeom>
        </p:spPr>
      </p:pic>
      <p:cxnSp>
        <p:nvCxnSpPr>
          <p:cNvPr id="22" name="Connector 3">
            <a:extLst>
              <a:ext uri="{FF2B5EF4-FFF2-40B4-BE49-F238E27FC236}">
                <a16:creationId xmlns:a16="http://schemas.microsoft.com/office/drawing/2014/main" id="{8B33999D-A74C-D058-BCE7-F35A0CAAEDF0}"/>
              </a:ext>
            </a:extLst>
          </p:cNvPr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项目成果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472C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4472C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413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全场景设备覆盖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683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5大场景 × 21种设备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完成生产、仓储、物流、办公及运维全场景布局，适配终端采集、智能网关等21类异构设备，实现无死角接入与统一管理。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815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4472C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413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97500" y="2413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全链路功能落地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683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在线·离线·同步一体化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攻克网络不稳定痛点，实现设备在线实时控制、弱网环境离线暂存数据，以及网络恢复后断点续传与云端自动同步，保障数据完整性。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01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4472C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0" y="2413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17000" y="2413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全维度质量验证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3683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5项核心测试100%通过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完成性能、安全、兼容性、稳定性及功耗等5项核心指标测试，各项数据均优于预设标准，系统成熟度满足商用部署要求。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472C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5715000"/>
            <a:ext cx="76200" cy="762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571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项目成果充分验证了系统架构的合理性与功能的完备性，为后续规模化推广和业务深化应用奠定了坚实基础。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项目创新亮点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472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2095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574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离线指令缓存机制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新增离线指令缓存队列，弥补传统MQTT物联网协议无离线补发的缺陷，确保设备在离线期间接收的指令不丢失、不遗漏。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81500" y="1905000"/>
            <a:ext cx="76200" cy="2095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0574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FIFO严格时序执行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2794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采用先进先出（FIFO）的时序补发机制，保证多条下发指令在设备重新上线后，严格按照原始顺序依次执行，避免业务逻辑混乱。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01000" y="1905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76200" cy="2095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0" y="2095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0574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被动式智能断线检测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2794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依托MQTT遗嘱消息特性实现被动式断线检测，无需服务器高频发送心跳包进行轮询，有效减少服务器的资源占用与性能消耗。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4445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444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635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651000" y="46355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零成本轻量化纯软件部署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6" name="Connector 26"/>
          <p:cNvCxnSpPr/>
          <p:nvPr/>
        </p:nvCxnSpPr>
        <p:spPr>
          <a:xfrm rot="-9167">
            <a:off x="1016008" y="520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16000" y="5334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采用纯软件技术架构方案，无需依赖任何付费云服务与专用硬件，部署流程简单便捷，极大降低了系统落地的资金成本与技术门槛。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286500" y="4445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286500" y="444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635500"/>
            <a:ext cx="457200" cy="457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75500" y="46355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多场景实景可视化集中管控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2" name="Connector 32"/>
          <p:cNvCxnSpPr/>
          <p:nvPr/>
        </p:nvCxnSpPr>
        <p:spPr>
          <a:xfrm rot="-9167">
            <a:off x="6540508" y="520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540500" y="5334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打造实景还原的可视化控制面板，将分散的智能设备状态与控制入口集中呈现，完美适配家庭、办公等多元场景，显著提升用户操作体验与管理效率。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/ 项目总结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857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7686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构建完整物联网技术链路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成功搭建前端+Flask+Redis+MQTT+虚拟设备的端到端架构，实现数据的高效传输与处理，形成稳定可靠的技术闭环。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127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0386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落地三大核心业务功能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实现在线实时控制、设备离线数据缓存及上线自动同步功能，保障了弱网或断网环境下的业务连续性与数据完整性。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397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53086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全面覆盖与测试通过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系统已适配覆盖21类主流智能家居设备，所有功能测试用例均顺利通过，具备良好的兼容性与稳定性。</a:t>
            </a:r>
          </a:p>
        </p:txBody>
      </p:sp>
      <p:cxnSp>
        <p:nvCxnSpPr>
          <p:cNvPr id="17" name="Connector 17"/>
          <p:cNvCxnSpPr/>
          <p:nvPr/>
        </p:nvCxnSpPr>
        <p:spPr>
          <a:xfrm rot="5390177">
            <a:off x="39370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77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/ 未来展望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254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对接主流硬件生态，拓展设备接入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rcRect t="8333" b="8333"/>
          <a:stretch>
            <a:fillRect/>
          </a:stretch>
        </p:blipFill>
        <p:spPr>
          <a:xfrm>
            <a:off x="6477000" y="3175000"/>
            <a:ext cx="1524000" cy="1270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rcRect l="10000" r="10000"/>
          <a:stretch>
            <a:fillRect/>
          </a:stretch>
        </p:blipFill>
        <p:spPr>
          <a:xfrm>
            <a:off x="8255000" y="3175000"/>
            <a:ext cx="1524000" cy="1270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9906000" y="3175000"/>
            <a:ext cx="177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计划接入米家、涂鸦等成熟硬件生态，打破设备壁垒，实现真实物理设备的无缝互联与统一管控。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8594">
            <a:off x="6477008" y="4756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477000" y="5080000"/>
            <a:ext cx="1587500" cy="1344494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5207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604000" y="5651500"/>
            <a:ext cx="1333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实时通信升级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WebSocket替代HTTP轮询，实现毫秒级消息推送。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8216900" y="5080000"/>
            <a:ext cx="1587500" cy="1344494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3900" y="5207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343900" y="5651500"/>
            <a:ext cx="1333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自动化场景联动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基于时间、环境、设备状态配置复杂的智能联动。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9969500" y="5080000"/>
            <a:ext cx="1587500" cy="1344494"/>
          </a:xfrm>
          <a:prstGeom prst="roundRect">
            <a:avLst>
              <a:gd name="adj" fmla="val 0"/>
            </a:avLst>
          </a:prstGeom>
          <a:solidFill>
            <a:srgbClr val="4472C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96500" y="52070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0096500" y="5651500"/>
            <a:ext cx="1333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移动端APP开发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开发多端适配的APP，提供随时随地的便捷管控。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92538" y="2540000"/>
            <a:ext cx="3445751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3822274"/>
            <a:ext cx="1016000" cy="45719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4472C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6477000"/>
            <a:ext cx="1524000" cy="381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928</Words>
  <Application>Microsoft Office PowerPoint</Application>
  <PresentationFormat>宽屏</PresentationFormat>
  <Paragraphs>164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Le'novo</dc:creator>
  <cp:lastModifiedBy>鑫宇 牛</cp:lastModifiedBy>
  <cp:revision>2</cp:revision>
  <dcterms:modified xsi:type="dcterms:W3CDTF">2026-06-29T09:20:12Z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{"Label":"1","ContentProducer":"001191110102MACQD9K64010000","ProduceID":"7656730096829123571","ReservedCode1":"","ContentPropagator":"","PropagateID":"","ReservedCode2":""}</vt:lpwstr>
  </property>
</Properties>
</file>